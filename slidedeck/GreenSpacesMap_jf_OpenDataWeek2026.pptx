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jacobfarkas.github.io/GreenSpacesMap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hyperlink" Target="https://jacobfarkas.github.io/GreenSpacesMa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A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57200" y="548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GreenSpaces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Mapping NYC Park Access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57200" y="411480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NYC Open Data Week 2026  •  March 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Little Red School House, 272 6th 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Jacob Farkas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0" y="0"/>
            <a:ext cx="274320" cy="514350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1C4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7780" y="144671"/>
            <a:ext cx="3337560" cy="4793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335029"/>
            <a:ext cx="731520" cy="736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THE QUESTION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7200" y="411480"/>
            <a:ext cx="4288536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Access to Parks and Greenspaces in NYC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New York City has over 1,700 spaces designated as parks.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But a concrete playground with a swing set is not the same as a park with trees, grass, and open space.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 a park two miles away with no transit connection is hard to get 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393192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2D6A4F"/>
                </a:solidFill>
                <a:latin typeface="Trebuchet MS"/>
                <a:ea typeface="Trebuchet MS"/>
                <a:cs typeface="Trebuchet MS"/>
                <a:sym typeface="Trebuchet MS"/>
              </a:rPr>
              <a:t>Given where you live — how long does it actually take to reach a green space?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6742" y="363260"/>
            <a:ext cx="3203993" cy="4299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THE TOOL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57200" y="4114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this map does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57200" y="1032838"/>
            <a:ext cx="54864" cy="3200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21792" y="98711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Block-level reporting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21792" y="124315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Every cell is roughly one short city block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7200" y="1582398"/>
            <a:ext cx="54864" cy="3200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21792" y="153667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Neighborhood Grades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21792" y="179271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Every cell is roughly one short city block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57200" y="2138599"/>
            <a:ext cx="54864" cy="3200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21792" y="209287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Qualified Green Spaces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21792" y="2330623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Tree inventory filters out small playgrounds, courts, paved spaces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200" y="2669871"/>
            <a:ext cx="54864" cy="3200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21792" y="2673503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Walking + Transit scoring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21792" y="2833791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Combined modes for flagship parks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3219431"/>
            <a:ext cx="54864" cy="3200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00517" y="3158183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Address 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00517" y="3387711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Search any NYC address, get your personal score instantly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3768991"/>
            <a:ext cx="54864" cy="3200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1792" y="3724841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Mobile-first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21792" y="3943863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Designed and tested on iPhone and Android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4318551"/>
            <a:ext cx="54864" cy="320040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21792" y="4272831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Open source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21792" y="4443687"/>
            <a:ext cx="248582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All public data, all reproducible, zero paid APIs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232" y="685681"/>
            <a:ext cx="2841132" cy="410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3817" y="647337"/>
            <a:ext cx="2858492" cy="410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A2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Trebuchet MS"/>
              <a:buNone/>
            </a:pPr>
            <a:r>
              <a:rPr b="1" lang="en-US" sz="5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Journey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How this was built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2118356" y="3315915"/>
            <a:ext cx="1754777" cy="10058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57200" y="11584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THE JOURNEY — DATA 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57200" y="4114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actually counts as a park?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57200" y="1234440"/>
            <a:ext cx="3553097" cy="2019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NYC Open Data lists 2,000+ parks.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Rappaport Playground has 18 mapped trees. Passannante Ballfield is 6 acres of asphalt. </a:t>
            </a:r>
            <a:b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Both are tagged as parks.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 used NYC's own Forestry Tree Points dataset to filter: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76789" y="3315915"/>
            <a:ext cx="1567544" cy="10058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254721" y="3375351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≥ 10 trees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254721" y="3818835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inside the polygon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044333" y="338560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OR ≥ 40,000 m²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2044333" y="3798333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large natural areas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57200" y="4434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Result: 1,295 qualifying parks from 1,657 candidates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0709" y="842792"/>
            <a:ext cx="4685502" cy="326286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 txBox="1"/>
          <p:nvPr/>
        </p:nvSpPr>
        <p:spPr>
          <a:xfrm>
            <a:off x="5705203" y="4151376"/>
            <a:ext cx="45785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wrangling using R Studio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THE JOURNEY — SPATIAL 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57200" y="4114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you score every city block?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57200" y="123444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H3 hexagonal grid at resolution 10 divides NYC into ~47,000 cells — each roughly one short city block.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cell is scored by estimated walk time to the nearest qualifying green space.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57200" y="2697480"/>
            <a:ext cx="3931920" cy="1417320"/>
          </a:xfrm>
          <a:prstGeom prst="rect">
            <a:avLst/>
          </a:prstGeom>
          <a:solidFill>
            <a:srgbClr val="F0F5F0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94360" y="278892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C4A2A"/>
                </a:solidFill>
                <a:latin typeface="Consolas"/>
                <a:ea typeface="Consolas"/>
                <a:cs typeface="Consolas"/>
                <a:sym typeface="Consolas"/>
              </a:rPr>
              <a:t>walk_minutes =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1C4A2A"/>
                </a:solidFill>
                <a:latin typeface="Consolas"/>
                <a:ea typeface="Consolas"/>
                <a:cs typeface="Consolas"/>
                <a:sym typeface="Consolas"/>
              </a:rPr>
              <a:t>(hops × 131 + 79) × 1.4 / 5000 × 60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594360" y="3520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1.4× circuity factor accounts for street grid vs straight 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2" y="402336"/>
            <a:ext cx="3004053" cy="402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THE JOURNEY — TRANSIT 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57199" y="411480"/>
            <a:ext cx="3831771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Walking can get you to your local parks.</a:t>
            </a:r>
            <a:br>
              <a:rPr b="1" lang="en-US" sz="16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The Subway unlocks the bigger 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Most folks don’t take the subway to a playground.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Flagship parks, on the other hand, are different.</a:t>
            </a:r>
            <a:b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the 15 NYC Flagship Parks, designated as such by NYC Parks, we built a walking+transit score using walking estimates + MTA GTFS timetable data.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365760" y="29260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🚶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365760" y="345643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Walk to station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365760" y="37490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H3 hop model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527048" y="30632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691640" y="29260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🚇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1691640" y="345643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Subway ride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1691640" y="37490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Median GTFS time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2852928" y="30632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3017520" y="29260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🌳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3017520" y="345643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Walk to park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3017520" y="37490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5 min fixed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57200" y="42519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Subways only for now • Direct rides or 1-transfer routing for now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0258" y="411480"/>
            <a:ext cx="2884199" cy="4142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A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Trebuchet MS"/>
              <a:buNone/>
            </a:pPr>
            <a:r>
              <a:rPr b="1" lang="en-US" sz="5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Maps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What the data shows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MAP 1 — NEIGHBORHOOD PARKS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457200" y="602863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Walk score: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87% of NYC scores A or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57200" y="1471543"/>
            <a:ext cx="411480" cy="365760"/>
          </a:xfrm>
          <a:prstGeom prst="rect">
            <a:avLst/>
          </a:prstGeom>
          <a:solidFill>
            <a:srgbClr val="1D6FA4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457200" y="1471543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960120" y="1508119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 5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457200" y="1947031"/>
            <a:ext cx="411480" cy="365760"/>
          </a:xfrm>
          <a:prstGeom prst="rect">
            <a:avLst/>
          </a:prstGeom>
          <a:solidFill>
            <a:srgbClr val="74B3CE"/>
          </a:solidFill>
          <a:ln cap="flat" cmpd="sng" w="12700">
            <a:solidFill>
              <a:srgbClr val="74B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57200" y="1947031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960120" y="1983607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5–10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57200" y="2422519"/>
            <a:ext cx="411480" cy="365760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457200" y="2422519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60120" y="2459095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10–15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457200" y="2898007"/>
            <a:ext cx="411480" cy="365760"/>
          </a:xfrm>
          <a:prstGeom prst="rect">
            <a:avLst/>
          </a:prstGeom>
          <a:solidFill>
            <a:srgbClr val="F07C1E"/>
          </a:solidFill>
          <a:ln cap="flat" cmpd="sng" w="12700">
            <a:solidFill>
              <a:srgbClr val="F07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57200" y="2898007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960120" y="2934583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15–20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457200" y="3373495"/>
            <a:ext cx="411480" cy="365760"/>
          </a:xfrm>
          <a:prstGeom prst="rect">
            <a:avLst/>
          </a:prstGeom>
          <a:solidFill>
            <a:srgbClr val="D7263D"/>
          </a:solidFill>
          <a:ln cap="flat" cmpd="sng" w="1270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457200" y="3373495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960120" y="341007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Over 20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57200" y="3986143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2D6A4F"/>
                </a:solidFill>
                <a:latin typeface="Trebuchet MS"/>
                <a:ea typeface="Trebuchet MS"/>
                <a:cs typeface="Trebuchet MS"/>
                <a:sym typeface="Trebuchet MS"/>
              </a:rPr>
              <a:t>87% of NYC cells score A or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594" y="801745"/>
            <a:ext cx="2690150" cy="386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8514" y="801744"/>
            <a:ext cx="2876230" cy="3863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MAP 1 — NEIGHBORHOOD SCORES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457200" y="4114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Neighborhood grade = % of blocks with good access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57200" y="2180381"/>
            <a:ext cx="411480" cy="384048"/>
          </a:xfrm>
          <a:prstGeom prst="rect">
            <a:avLst/>
          </a:prstGeom>
          <a:solidFill>
            <a:srgbClr val="1D6FA4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57200" y="2180381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960120" y="222610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≥ 80% of cells score A or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457200" y="2683301"/>
            <a:ext cx="411480" cy="384048"/>
          </a:xfrm>
          <a:prstGeom prst="rect">
            <a:avLst/>
          </a:prstGeom>
          <a:solidFill>
            <a:srgbClr val="74B3CE"/>
          </a:solidFill>
          <a:ln cap="flat" cmpd="sng" w="12700">
            <a:solidFill>
              <a:srgbClr val="74B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457200" y="2683301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960120" y="272902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≥ 60% of cells score A or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457200" y="3186221"/>
            <a:ext cx="411480" cy="384048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457200" y="3186221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960120" y="323194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≥ 40% of cells score A or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57200" y="3689141"/>
            <a:ext cx="411480" cy="384048"/>
          </a:xfrm>
          <a:prstGeom prst="rect">
            <a:avLst/>
          </a:prstGeom>
          <a:solidFill>
            <a:srgbClr val="F07C1E"/>
          </a:solidFill>
          <a:ln cap="flat" cmpd="sng" w="12700">
            <a:solidFill>
              <a:srgbClr val="F07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57200" y="3689141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960120" y="373486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≥ 20% of cells score A or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457200" y="4192061"/>
            <a:ext cx="411480" cy="384048"/>
          </a:xfrm>
          <a:prstGeom prst="rect">
            <a:avLst/>
          </a:prstGeom>
          <a:solidFill>
            <a:srgbClr val="D7263D"/>
          </a:solidFill>
          <a:ln cap="flat" cmpd="sng" w="1270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57200" y="4192061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960120" y="4237781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&lt; 20% of cells score A or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887" y="1096321"/>
            <a:ext cx="2388073" cy="3462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1659" y="1096320"/>
            <a:ext cx="2580370" cy="346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MAP 2 — FLAGSHIP PARKS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57200" y="4114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Flagship walk — 46% of NYC can't reach a major park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457200" y="1425824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NYC Parks' 15 official Flagship Parks — the destination parks worth a longer trip.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57200" y="2111624"/>
            <a:ext cx="384048" cy="347472"/>
          </a:xfrm>
          <a:prstGeom prst="rect">
            <a:avLst/>
          </a:prstGeom>
          <a:solidFill>
            <a:srgbClr val="1D6FA4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57200" y="2111624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932688" y="2139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 12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57200" y="2541392"/>
            <a:ext cx="384048" cy="347472"/>
          </a:xfrm>
          <a:prstGeom prst="rect">
            <a:avLst/>
          </a:prstGeom>
          <a:solidFill>
            <a:srgbClr val="74B3CE"/>
          </a:solidFill>
          <a:ln cap="flat" cmpd="sng" w="12700">
            <a:solidFill>
              <a:srgbClr val="74B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57200" y="2541392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932688" y="256882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12–26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457200" y="2971160"/>
            <a:ext cx="384048" cy="347472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457200" y="297116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32688" y="299859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26–38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57200" y="3400928"/>
            <a:ext cx="384048" cy="347472"/>
          </a:xfrm>
          <a:prstGeom prst="rect">
            <a:avLst/>
          </a:prstGeom>
          <a:solidFill>
            <a:srgbClr val="F07C1E"/>
          </a:solidFill>
          <a:ln cap="flat" cmpd="sng" w="12700">
            <a:solidFill>
              <a:srgbClr val="F07C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57200" y="3400928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932688" y="342836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38–50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457200" y="3830696"/>
            <a:ext cx="384048" cy="347472"/>
          </a:xfrm>
          <a:prstGeom prst="rect">
            <a:avLst/>
          </a:prstGeom>
          <a:solidFill>
            <a:srgbClr val="D7263D"/>
          </a:solidFill>
          <a:ln cap="flat" cmpd="sng" w="12700">
            <a:solidFill>
              <a:srgbClr val="D7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457200" y="3830696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932688" y="385812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Over 50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457200" y="4351904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D7263D"/>
                </a:solidFill>
                <a:latin typeface="Trebuchet MS"/>
                <a:ea typeface="Trebuchet MS"/>
                <a:cs typeface="Trebuchet MS"/>
                <a:sym typeface="Trebuchet MS"/>
              </a:rPr>
              <a:t>46% of NYC cells score F for flagship walk access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0440" y="438912"/>
            <a:ext cx="3050872" cy="439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MAP 2 — FLAGSHIP PARKS — SUBWAY MODE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57200" y="4114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Subway alone cuts number of F scores from 46% to 32%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365760" y="1655135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D7263D"/>
                </a:solidFill>
                <a:latin typeface="Trebuchet MS"/>
                <a:ea typeface="Trebuchet MS"/>
                <a:cs typeface="Trebuchet MS"/>
                <a:sym typeface="Trebuchet MS"/>
              </a:rPr>
              <a:t>46%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365759" y="2615255"/>
            <a:ext cx="146957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Cells scoring an F — calculating walk only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737360" y="1655135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5A6B5A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3108960" y="1655135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1E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F07C1E"/>
                </a:solidFill>
                <a:latin typeface="Trebuchet MS"/>
                <a:ea typeface="Trebuchet MS"/>
                <a:cs typeface="Trebuchet MS"/>
                <a:sym typeface="Trebuchet MS"/>
              </a:rPr>
              <a:t>32%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2926078" y="2615255"/>
            <a:ext cx="16459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Cells scoring an F — calculating walk+ subway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57200" y="3118175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Subway and other forms of transit help improve access</a:t>
            </a:r>
            <a:b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Likely far more than our app currently shows.</a:t>
            </a:r>
            <a:b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bus scoring yet, single transfer rides on subway only.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2" y="546779"/>
            <a:ext cx="2880673" cy="413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WALK VS SUBWAY — CROWN HEIGHTS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457199" y="638131"/>
            <a:ext cx="3696577" cy="98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Same neighborhood. Different story.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Walk to Prospect Park — 27.7 min — Grade 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475488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B3C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4B3CE"/>
                </a:solidFill>
                <a:latin typeface="Calibri"/>
                <a:ea typeface="Calibri"/>
                <a:cs typeface="Calibri"/>
                <a:sym typeface="Calibri"/>
              </a:rPr>
              <a:t>Subway via Nostrand Av (direct) — 15.9 min — Grade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5"/>
          <p:cNvCxnSpPr/>
          <p:nvPr/>
        </p:nvCxnSpPr>
        <p:spPr>
          <a:xfrm>
            <a:off x="4572000" y="1280160"/>
            <a:ext cx="0" cy="3657600"/>
          </a:xfrm>
          <a:prstGeom prst="straightConnector1">
            <a:avLst/>
          </a:prstGeom>
          <a:noFill/>
          <a:ln cap="flat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3" name="Google Shape;2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9385" y="1645920"/>
            <a:ext cx="2081069" cy="298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7863" y="1645920"/>
            <a:ext cx="2130514" cy="308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THE TOOL — ADDRESS SEARCH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457199" y="411479"/>
            <a:ext cx="4114801" cy="1020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your address. Get your score.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57199" y="1668780"/>
            <a:ext cx="39319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272 Avenue of the Americas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(This venue — LREI)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Nearest park: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Downing Street Playground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~3.5 min walk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FA4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D6FA4"/>
                </a:solidFill>
                <a:latin typeface="Calibri"/>
                <a:ea typeface="Calibri"/>
                <a:cs typeface="Calibri"/>
                <a:sym typeface="Calibri"/>
              </a:rPr>
              <a:t>Grade: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2" y="412366"/>
            <a:ext cx="3017680" cy="4342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A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Trebuchet MS"/>
              <a:buNone/>
            </a:pPr>
            <a:r>
              <a:rPr b="1" lang="en-US" sz="5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Next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And where you come in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9F4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57200" y="4114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The roadmap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457200" y="1414837"/>
            <a:ext cx="4316110" cy="1351044"/>
          </a:xfrm>
          <a:prstGeom prst="rect">
            <a:avLst/>
          </a:prstGeom>
          <a:solidFill>
            <a:srgbClr val="F0F5F0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548640" y="1487988"/>
            <a:ext cx="602248" cy="77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🚌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1097279" y="1487988"/>
            <a:ext cx="3513113" cy="488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Bus scoring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1097338" y="1816023"/>
            <a:ext cx="35130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Routing and scheduling info, stop info for MTA buses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457200" y="2512117"/>
            <a:ext cx="4316110" cy="1351044"/>
          </a:xfrm>
          <a:prstGeom prst="rect">
            <a:avLst/>
          </a:prstGeom>
          <a:solidFill>
            <a:srgbClr val="F0F5F0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548640" y="2585268"/>
            <a:ext cx="602248" cy="77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1097279" y="2585268"/>
            <a:ext cx="3513113" cy="488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score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1097279" y="2951029"/>
            <a:ext cx="3513113" cy="617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Buses, subways</a:t>
            </a: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, multi-modal transfers, as well as including </a:t>
            </a:r>
            <a:b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routes that are 100% accessible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4480560" y="2512117"/>
            <a:ext cx="4316110" cy="1351044"/>
          </a:xfrm>
          <a:prstGeom prst="rect">
            <a:avLst/>
          </a:prstGeom>
          <a:solidFill>
            <a:srgbClr val="F0F5F0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4572000" y="2585268"/>
            <a:ext cx="602248" cy="77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5120639" y="2585268"/>
            <a:ext cx="3513113" cy="488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Pedestrian routing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5120639" y="2951029"/>
            <a:ext cx="3513113" cy="617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Augment hop approximation with street routing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4480560" y="1414837"/>
            <a:ext cx="4316110" cy="1097280"/>
          </a:xfrm>
          <a:prstGeom prst="rect">
            <a:avLst/>
          </a:prstGeom>
          <a:solidFill>
            <a:srgbClr val="F0F5F0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4572000" y="1487988"/>
            <a:ext cx="602248" cy="77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5120639" y="1487988"/>
            <a:ext cx="3513113" cy="488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2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C4A2A"/>
                </a:solidFill>
                <a:latin typeface="Trebuchet MS"/>
                <a:ea typeface="Trebuchet MS"/>
                <a:cs typeface="Trebuchet MS"/>
                <a:sym typeface="Trebuchet MS"/>
              </a:rPr>
              <a:t>Advocacy for Park Access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5120639" y="1853749"/>
            <a:ext cx="3513113" cy="617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B5A"/>
                </a:solidFill>
                <a:latin typeface="Calibri"/>
                <a:ea typeface="Calibri"/>
                <a:cs typeface="Calibri"/>
                <a:sym typeface="Calibri"/>
              </a:rPr>
              <a:t>Identify areas that could benefit from better access as well as developing more parks.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4572000" y="2585268"/>
            <a:ext cx="602248" cy="77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5120639" y="2585268"/>
            <a:ext cx="3513113" cy="488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5120639" y="2951029"/>
            <a:ext cx="3513113" cy="617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A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Let’s collaborate!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Everything is open source. All public data. Zero paid APIs.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1269882" y="1679235"/>
            <a:ext cx="1554480" cy="20116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1269882" y="1770675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🚌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1269882" y="2410755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Transit routing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1269882" y="2867955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Bus routes, multi-transfer subway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2988954" y="1679235"/>
            <a:ext cx="1554480" cy="20116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2988954" y="1770675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2988954" y="2410755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Pedestrian routing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2988954" y="2867955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Identify safe and accessible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4708026" y="1679235"/>
            <a:ext cx="1554480" cy="20116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708026" y="1770675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4708026" y="2410755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Advocacy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4708026" y="2867955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Use this data to help advocate for better park access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6427098" y="2867955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6500250" y="1679235"/>
            <a:ext cx="1554480" cy="2011680"/>
          </a:xfrm>
          <a:prstGeom prst="rect">
            <a:avLst/>
          </a:prstGeom>
          <a:solidFill>
            <a:srgbClr val="1C4A2A"/>
          </a:solidFill>
          <a:ln cap="flat" cmpd="sng" w="127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6500250" y="1770675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6500250" y="2410755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and Tech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6500250" y="2867955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Help add features to the app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1783080" y="4337623"/>
            <a:ext cx="293361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br>
              <a:rPr b="1" lang="en-US" sz="11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00" u="sng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https://jacobfarkas.github.io/GreenSpacesMap</a:t>
            </a:r>
            <a:br>
              <a:rPr b="1" lang="en-US" sz="11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11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3495" y="3968501"/>
            <a:ext cx="535709" cy="539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8026" y="3975213"/>
            <a:ext cx="535709" cy="56058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9"/>
          <p:cNvSpPr txBox="1"/>
          <p:nvPr/>
        </p:nvSpPr>
        <p:spPr>
          <a:xfrm>
            <a:off x="5196097" y="4145688"/>
            <a:ext cx="28281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Github Repo</a:t>
            </a:r>
            <a:br>
              <a:rPr b="1" lang="en-US" sz="10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00" u="sng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https://jacobfarkas.github.io/GreenSpacesMap</a:t>
            </a:r>
            <a:endParaRPr b="1" sz="1000">
              <a:solidFill>
                <a:srgbClr val="52B7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